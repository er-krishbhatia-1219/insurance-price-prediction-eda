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3657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5BD3FF"/>
                </a:solidFill>
                <a:latin typeface="Aptos"/>
              </a:rPr>
              <a:t>PYTHON / ML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9431941" cy="83099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800" b="1" dirty="0">
                <a:solidFill>
                  <a:srgbClr val="F5F8FC"/>
                </a:solidFill>
                <a:latin typeface="Aptos"/>
              </a:rPr>
              <a:t>Insurance Price Prediction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76272"/>
            <a:ext cx="97840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5B5CD"/>
                </a:solidFill>
                <a:latin typeface="Aptos"/>
              </a:rPr>
              <a:t>Exploratory analysis + preprocessing pipeline for insurance charge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1828800" cy="73152"/>
          </a:xfrm>
          <a:prstGeom prst="rect">
            <a:avLst/>
          </a:prstGeom>
          <a:solidFill>
            <a:srgbClr val="5B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2331720" cy="13258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3831335"/>
            <a:ext cx="200253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A5B5CD"/>
                </a:solidFill>
                <a:latin typeface="Aptos"/>
              </a:rPr>
              <a:t>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142231"/>
            <a:ext cx="2002536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5BD3FF"/>
                </a:solidFill>
                <a:latin typeface="Aptos"/>
              </a:rPr>
              <a:t>1,338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703320"/>
            <a:ext cx="2331720" cy="13258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0712" y="3831335"/>
            <a:ext cx="200253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A5B5CD"/>
                </a:solidFill>
                <a:latin typeface="Aptos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4142231"/>
            <a:ext cx="2002536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B7A3FF"/>
                </a:solidFill>
                <a:latin typeface="Aptos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703320"/>
            <a:ext cx="2331720" cy="13258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1031" y="3831335"/>
            <a:ext cx="200253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A5B5CD"/>
                </a:solidFill>
                <a:latin typeface="Aptos"/>
              </a:rPr>
              <a:t>DUPLICATES REMOVED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4142231"/>
            <a:ext cx="2002536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70EBC1"/>
                </a:solidFill>
                <a:latin typeface="Apto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59" y="3703320"/>
            <a:ext cx="2331720" cy="13258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1" y="3831335"/>
            <a:ext cx="200253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A5B5CD"/>
                </a:solidFill>
                <a:latin typeface="Aptos"/>
              </a:rPr>
              <a:t>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1" y="4142231"/>
            <a:ext cx="2002536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FB991"/>
                </a:solidFill>
                <a:latin typeface="Aptos"/>
              </a:rPr>
              <a:t>CHARGES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KRISH BHATIA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26480"/>
            <a:ext cx="6217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A5B5CD"/>
                </a:solidFill>
                <a:latin typeface="Aptos"/>
              </a:rPr>
              <a:t>KRISHBHATIA624@GMAIL.COM  •  +91-76579-09464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BD3FF"/>
                </a:solidFill>
                <a:latin typeface="Aptos"/>
              </a:rPr>
              <a:t>01 •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What this notebook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B5CD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5BD3FF"/>
                </a:solidFill>
                <a:latin typeface="Aptos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Prepare an insurance dataset for a downstream price-prediction model.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Explore distributions, categorical balance, outliers and numeric relationships.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Convert categorical fields into model-ready numerical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B7A3FF"/>
                </a:solidFill>
                <a:latin typeface="Aptos"/>
              </a:rPr>
              <a:t>Notebook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Python + Pandas + NumPy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Seaborn + Matplotlib for EDA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Scikit-learn StandardScaler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Workflow: EDA → cleaning → encoding → feature engineering →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5B5CD"/>
                </a:solidFill>
                <a:latin typeface="Aptos"/>
              </a:rPr>
              <a:t>KRISH BHATIA  •  KRISHBHATIA624@GMAIL.COM  •  +91-76579-09464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BD3FF"/>
                </a:solidFill>
                <a:latin typeface="Aptos"/>
              </a:rPr>
              <a:t>02 •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B5CD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5BD3FF"/>
                </a:solidFill>
                <a:latin typeface="Aptos"/>
              </a:rPr>
              <a:t>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7 columns: age, sex, bmi, children, smoker, region, charges.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1,338 observations at ingestion.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All 7 columns report 1,338 non-null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B7A3FF"/>
                </a:solidFill>
                <a:latin typeface="Aptos"/>
              </a:rPr>
              <a:t>Observed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Average age: 39.21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Average BMI: 30.66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Average children: 1.09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Average charges: 13,270.42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5B5CD"/>
                </a:solidFill>
                <a:latin typeface="Aptos"/>
              </a:rPr>
              <a:t>KRISH BHATIA  •  KRISHBHATIA624@GMAIL.COM  •  +91-76579-09464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BD3FF"/>
                </a:solidFill>
                <a:latin typeface="Aptos"/>
              </a:rPr>
              <a:t>03 •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Exploratory analysis performed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B5C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5BD3FF"/>
                </a:solidFill>
                <a:latin typeface="Aptos"/>
              </a:defRPr>
            </a:pPr>
            <a:r>
              <a:t>• Distribution analysis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Histograms with KDE for age, BMI, children and charges.</a:t>
            </a:r>
          </a:p>
          <a:p>
            <a:pPr>
              <a:spcAft>
                <a:spcPts val="700"/>
              </a:spcAft>
              <a:defRPr sz="1700" b="1">
                <a:solidFill>
                  <a:srgbClr val="B7A3FF"/>
                </a:solidFill>
                <a:latin typeface="Aptos"/>
              </a:defRPr>
            </a:pPr>
            <a:r>
              <a:t>• Categorical analysis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Count plots for children, sex and smoker status.</a:t>
            </a:r>
          </a:p>
          <a:p>
            <a:pPr>
              <a:spcAft>
                <a:spcPts val="700"/>
              </a:spcAft>
              <a:defRPr sz="1700" b="1">
                <a:solidFill>
                  <a:srgbClr val="70EBC1"/>
                </a:solidFill>
                <a:latin typeface="Aptos"/>
              </a:defRPr>
            </a:pPr>
            <a:r>
              <a:t>• Outlier analysis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Boxplots across the main numeric variables.</a:t>
            </a:r>
          </a:p>
          <a:p>
            <a:pPr>
              <a:spcAft>
                <a:spcPts val="700"/>
              </a:spcAft>
              <a:defRPr sz="1700" b="1">
                <a:solidFill>
                  <a:srgbClr val="FFB991"/>
                </a:solidFill>
                <a:latin typeface="Aptos"/>
              </a:defRPr>
            </a:pPr>
            <a:r>
              <a:t>• Relationship analysis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Correlation heatmap across numeric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00200"/>
            <a:ext cx="2834640" cy="182880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94192" y="1728216"/>
            <a:ext cx="250545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A5B5CD"/>
                </a:solidFill>
                <a:latin typeface="Aptos"/>
              </a:rPr>
              <a:t>AVG CHARGES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2039112"/>
            <a:ext cx="2505456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5BD3FF"/>
                </a:solidFill>
                <a:latin typeface="Aptos"/>
              </a:rPr>
              <a:t>13,270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5B5CD"/>
                </a:solidFill>
                <a:latin typeface="Aptos"/>
              </a:rPr>
              <a:t>KRISH BHATIA  •  KRISHBHATIA624@GMAIL.COM  •  +91-76579-09464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BD3FF"/>
                </a:solidFill>
                <a:latin typeface="Aptos"/>
              </a:rPr>
              <a:t>04 •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From raw data to model-ready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B5CD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514600" cy="233172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5BD3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2057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Copy &amp; inspect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135521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A5B5CD"/>
                </a:solidFill>
                <a:latin typeface="Aptos"/>
              </a:rPr>
              <a:t>Create </a:t>
            </a:r>
            <a:r>
              <a:rPr sz="1150" b="0" dirty="0" err="1">
                <a:solidFill>
                  <a:srgbClr val="A5B5CD"/>
                </a:solidFill>
                <a:latin typeface="Aptos"/>
              </a:rPr>
              <a:t>df_cleaned</a:t>
            </a:r>
            <a:r>
              <a:rPr sz="1150" b="0" dirty="0">
                <a:solidFill>
                  <a:srgbClr val="A5B5CD"/>
                </a:solidFill>
                <a:latin typeface="Aptos"/>
              </a:rPr>
              <a:t> and inspect</a:t>
            </a:r>
            <a:endParaRPr lang="en-US" sz="1150" b="0" dirty="0">
              <a:solidFill>
                <a:srgbClr val="A5B5CD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A5B5CD"/>
                </a:solidFill>
                <a:latin typeface="Aptos"/>
              </a:rPr>
              <a:t>shape, nulls and </a:t>
            </a:r>
            <a:r>
              <a:rPr sz="1150" b="0" dirty="0" err="1">
                <a:solidFill>
                  <a:srgbClr val="A5B5CD"/>
                </a:solidFill>
                <a:latin typeface="Aptos"/>
              </a:rPr>
              <a:t>dtypes</a:t>
            </a:r>
            <a:r>
              <a:rPr sz="1150" b="0" dirty="0">
                <a:solidFill>
                  <a:srgbClr val="A5B5CD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697480"/>
            <a:ext cx="411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BD3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3671" y="1828800"/>
            <a:ext cx="2514600" cy="233172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B7A3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23160"/>
            <a:ext cx="2057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De-duplicate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1306" y="2998143"/>
            <a:ext cx="205740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A5B5CD"/>
                </a:solidFill>
                <a:latin typeface="Aptos"/>
              </a:rPr>
              <a:t>Drop duplicate rows: 1,338 → 1,337.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697480"/>
            <a:ext cx="411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B7A3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2591" y="1817876"/>
            <a:ext cx="2514600" cy="233172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70EBC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23160"/>
            <a:ext cx="2057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Encode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0328" y="2971800"/>
            <a:ext cx="2318263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A5B5CD"/>
                </a:solidFill>
                <a:latin typeface="Aptos"/>
              </a:rPr>
              <a:t>Map sex/smoker; one-hot encode</a:t>
            </a:r>
            <a:endParaRPr lang="en-US" sz="1150" b="0" dirty="0">
              <a:solidFill>
                <a:srgbClr val="A5B5CD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A5B5CD"/>
                </a:solidFill>
                <a:latin typeface="Aptos"/>
              </a:rPr>
              <a:t> region.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2697480"/>
            <a:ext cx="411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70EBC1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817876"/>
            <a:ext cx="2514600" cy="233172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5486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B991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23160"/>
            <a:ext cx="2057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971800"/>
            <a:ext cx="2428870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A5B5CD"/>
                </a:solidFill>
                <a:latin typeface="Aptos"/>
              </a:rPr>
              <a:t>Create BMI categories and one-hot </a:t>
            </a:r>
            <a:endParaRPr lang="en-US" sz="1150" b="0" dirty="0">
              <a:solidFill>
                <a:srgbClr val="A5B5CD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A5B5CD"/>
                </a:solidFill>
                <a:latin typeface="Aptos"/>
              </a:rPr>
              <a:t>encode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465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5B5CD"/>
                </a:solidFill>
                <a:latin typeface="Aptos"/>
              </a:rPr>
              <a:t>KRISH BHATIA  •  KRISHBHATIA624@GMAIL.COM  •  +91-76579-09464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BD3FF"/>
                </a:solidFill>
                <a:latin typeface="Aptos"/>
              </a:rPr>
              <a:t>05 •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Feature 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B5CD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5BD3FF"/>
                </a:solidFill>
                <a:latin typeface="Aptos"/>
              </a:rPr>
              <a:t>Categorical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sex → is_female: male=0, female=1.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smoker → is_smoker: no=0, yes=1.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region → four one-hot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B7A3FF"/>
                </a:solidFill>
                <a:latin typeface="Aptos"/>
              </a:rPr>
              <a:t>BMI transformation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BMI bins: Underweight, Normal, Overweight, Obese.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One-hot encoding applied with drop_first=True.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Final preprocessing also standardizes age, BMI and children.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5B5CD"/>
                </a:solidFill>
                <a:latin typeface="Aptos"/>
              </a:rPr>
              <a:t>KRISH BHATIA  •  KRISHBHATIA624@GMAIL.COM  •  +91-76579-09464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BD3FF"/>
                </a:solidFill>
                <a:latin typeface="Aptos"/>
              </a:rPr>
              <a:t>06 • STANDARDIZATION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Scaling numeric predictors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B5CD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5BD3FF"/>
                </a:solidFill>
                <a:latin typeface="Aptos"/>
              </a:rPr>
              <a:t>Scaled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age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bmi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children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257800" cy="452628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64208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B7A3FF"/>
                </a:solidFill>
                <a:latin typeface="Aptos"/>
              </a:rPr>
              <a:t>Why this step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StandardScaler transforms selected numeric features onto a comparable scale.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The notebook ends with a model-ready feature matrix.</a:t>
            </a:r>
          </a:p>
          <a:p>
            <a:pPr>
              <a:spcAft>
                <a:spcPts val="700"/>
              </a:spcAft>
              <a:defRPr sz="1450" b="0">
                <a:solidFill>
                  <a:srgbClr val="F5F8FC"/>
                </a:solidFill>
                <a:latin typeface="Aptos"/>
              </a:defRPr>
            </a:pPr>
            <a:r>
              <a:t>• No regression algorithm, train/test split, or evaluation metric is implemented in the supplied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5B5CD"/>
                </a:solidFill>
                <a:latin typeface="Aptos"/>
              </a:rPr>
              <a:t>KRISH BHATIA  •  KRISHBHATIA624@GMAIL.COM  •  +91-76579-09464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5BD3FF"/>
                </a:solidFill>
                <a:latin typeface="Aptos"/>
              </a:rPr>
              <a:t>07 • GITHUB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How to present this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20040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A5B5C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5BD3FF"/>
                </a:solidFill>
                <a:latin typeface="Aptos"/>
              </a:defRPr>
            </a:pPr>
            <a:r>
              <a:t>• Problem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Insurance charges vary across demographic, lifestyle and regional attributes.</a:t>
            </a:r>
          </a:p>
          <a:p>
            <a:pPr>
              <a:spcAft>
                <a:spcPts val="700"/>
              </a:spcAft>
              <a:defRPr sz="1700" b="1">
                <a:solidFill>
                  <a:srgbClr val="B7A3FF"/>
                </a:solidFill>
                <a:latin typeface="Aptos"/>
              </a:defRPr>
            </a:pPr>
            <a:r>
              <a:t>• Approach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Use reproducible EDA and preprocessing to create clean numerical features.</a:t>
            </a:r>
          </a:p>
          <a:p>
            <a:pPr>
              <a:spcAft>
                <a:spcPts val="700"/>
              </a:spcAft>
              <a:defRPr sz="1700" b="1">
                <a:solidFill>
                  <a:srgbClr val="70EBC1"/>
                </a:solidFill>
                <a:latin typeface="Aptos"/>
              </a:defRPr>
            </a:pPr>
            <a:r>
              <a:t>• Evidence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1,338 rows analyzed; no missing values reported; 1 duplicate removed; categorical variables encoded.</a:t>
            </a:r>
          </a:p>
          <a:p>
            <a:pPr>
              <a:spcAft>
                <a:spcPts val="700"/>
              </a:spcAft>
              <a:defRPr sz="1700" b="1">
                <a:solidFill>
                  <a:srgbClr val="FFB991"/>
                </a:solidFill>
                <a:latin typeface="Aptos"/>
              </a:defRPr>
            </a:pPr>
            <a:r>
              <a:t>• Next step</a:t>
            </a:r>
          </a:p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• Train a regression model, evaluate MAE/RMSE/R², compare models, and persist the preprocessing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2834640" cy="1828800"/>
          </a:xfrm>
          <a:prstGeom prst="roundRect">
            <a:avLst/>
          </a:prstGeom>
          <a:solidFill>
            <a:srgbClr val="122746"/>
          </a:solidFill>
          <a:ln>
            <a:solidFill>
              <a:srgbClr val="23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94192" y="1773936"/>
            <a:ext cx="2505456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A5B5CD"/>
                </a:solidFill>
                <a:latin typeface="Aptos"/>
              </a:rPr>
              <a:t>ROWS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2084832"/>
            <a:ext cx="2505456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70EBC1"/>
                </a:solidFill>
                <a:latin typeface="Aptos"/>
              </a:rPr>
              <a:t>1,337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789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A5B5CD"/>
                </a:solidFill>
                <a:latin typeface="Aptos"/>
              </a:rPr>
              <a:t>KRISH BHATIA  •  KRISHBHATIA624@GMAIL.COM  •  +91-76579-09464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598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Krish Bhatia</cp:lastModifiedBy>
  <cp:revision>2</cp:revision>
  <dcterms:created xsi:type="dcterms:W3CDTF">2013-01-27T09:14:16Z</dcterms:created>
  <dcterms:modified xsi:type="dcterms:W3CDTF">2026-09-21T03:51:35Z</dcterms:modified>
  <cp:category/>
</cp:coreProperties>
</file>